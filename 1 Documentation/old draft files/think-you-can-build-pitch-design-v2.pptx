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e8b3278d654e26" /><Relationship Type="http://schemas.openxmlformats.org/officeDocument/2006/relationships/extended-properties" Target="/docProps/app.xml" Id="R87a2390b29b64bd9" /><Relationship Type="http://schemas.openxmlformats.org/officeDocument/2006/relationships/officeDocument" Target="/ppt/presentation.xml" Id="R3303092c56d6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b69ad9ba4648fc"/>
  </p:sldMasterIdLst>
  <p:notesMasterIdLst>
    <p:notesMasterId xmlns:r="http://schemas.openxmlformats.org/officeDocument/2006/relationships" r:id="Rcce2c9f34b864975"/>
  </p:notesMasterIdLst>
  <p:sldIdLst>
    <p:sldId xmlns:r="http://schemas.openxmlformats.org/officeDocument/2006/relationships" id="256" r:id="R3ecd734205c64f79"/>
    <p:sldId xmlns:r="http://schemas.openxmlformats.org/officeDocument/2006/relationships" id="257" r:id="Rd6834f26fa9945f6"/>
    <p:sldId xmlns:r="http://schemas.openxmlformats.org/officeDocument/2006/relationships" id="258" r:id="R5e69dcff61934281"/>
    <p:sldId xmlns:r="http://schemas.openxmlformats.org/officeDocument/2006/relationships" id="259" r:id="R9f68a6b8136c464d"/>
    <p:sldId xmlns:r="http://schemas.openxmlformats.org/officeDocument/2006/relationships" id="260" r:id="Rd07a6cccc6744d91"/>
    <p:sldId xmlns:r="http://schemas.openxmlformats.org/officeDocument/2006/relationships" id="261" r:id="R83f1be94ff304064"/>
    <p:sldId xmlns:r="http://schemas.openxmlformats.org/officeDocument/2006/relationships" id="262" r:id="R73bcfb8344c04004"/>
    <p:sldId xmlns:r="http://schemas.openxmlformats.org/officeDocument/2006/relationships" id="263" r:id="Rde33e34b17254ab0"/>
    <p:sldId xmlns:r="http://schemas.openxmlformats.org/officeDocument/2006/relationships" id="264" r:id="R7ee620ea68c6434f"/>
    <p:sldId xmlns:r="http://schemas.openxmlformats.org/officeDocument/2006/relationships" id="265" r:id="R3c689ab8ea8d4a1d"/>
    <p:sldId xmlns:r="http://schemas.openxmlformats.org/officeDocument/2006/relationships" id="266" r:id="Rd4e362aa42d145b6"/>
    <p:sldId xmlns:r="http://schemas.openxmlformats.org/officeDocument/2006/relationships" id="267" r:id="R4b0686df662e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327df4c6d84850" /><Relationship Type="http://schemas.openxmlformats.org/officeDocument/2006/relationships/slideMaster" Target="/ppt/slideMasters/slideMaster1.xml" Id="R22b69ad9ba4648fc" /><Relationship Type="http://schemas.openxmlformats.org/officeDocument/2006/relationships/notesMaster" Target="/ppt/notesMasters/notesMaster1.xml" Id="Rcce2c9f34b864975" /><Relationship Type="http://schemas.openxmlformats.org/officeDocument/2006/relationships/presProps" Target="/ppt/presProps.xml" Id="Re4e0f1998ba84a78" /><Relationship Type="http://schemas.openxmlformats.org/officeDocument/2006/relationships/tableStyles" Target="/ppt/tableStyles.xml" Id="R499988ad54ac4b57" /><Relationship Type="http://schemas.openxmlformats.org/officeDocument/2006/relationships/slide" Target="/ppt/slides/slide1.xml" Id="R3ecd734205c64f79" /><Relationship Type="http://schemas.openxmlformats.org/officeDocument/2006/relationships/slide" Target="/ppt/slides/slide2.xml" Id="Rd6834f26fa9945f6" /><Relationship Type="http://schemas.openxmlformats.org/officeDocument/2006/relationships/slide" Target="/ppt/slides/slide3.xml" Id="R5e69dcff61934281" /><Relationship Type="http://schemas.openxmlformats.org/officeDocument/2006/relationships/slide" Target="/ppt/slides/slide4.xml" Id="R9f68a6b8136c464d" /><Relationship Type="http://schemas.openxmlformats.org/officeDocument/2006/relationships/slide" Target="/ppt/slides/slide5.xml" Id="Rd07a6cccc6744d91" /><Relationship Type="http://schemas.openxmlformats.org/officeDocument/2006/relationships/slide" Target="/ppt/slides/slide6.xml" Id="R83f1be94ff304064" /><Relationship Type="http://schemas.openxmlformats.org/officeDocument/2006/relationships/slide" Target="/ppt/slides/slide7.xml" Id="R73bcfb8344c04004" /><Relationship Type="http://schemas.openxmlformats.org/officeDocument/2006/relationships/slide" Target="/ppt/slides/slide8.xml" Id="Rde33e34b17254ab0" /><Relationship Type="http://schemas.openxmlformats.org/officeDocument/2006/relationships/slide" Target="/ppt/slides/slide9.xml" Id="R7ee620ea68c6434f" /><Relationship Type="http://schemas.openxmlformats.org/officeDocument/2006/relationships/slide" Target="/ppt/slides/slide10.xml" Id="R3c689ab8ea8d4a1d" /><Relationship Type="http://schemas.openxmlformats.org/officeDocument/2006/relationships/slide" Target="/ppt/slides/slide11.xml" Id="Rd4e362aa42d145b6" /><Relationship Type="http://schemas.openxmlformats.org/officeDocument/2006/relationships/slide" Target="/ppt/slides/slide12.xml" Id="R4b0686df662e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91a249deb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780f2eb574310" /><Relationship Type="http://schemas.openxmlformats.org/officeDocument/2006/relationships/notesMaster" Target="/ppt/notesMasters/notesMaster1.xml" Id="R631ec8a45d7445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b34e0e2914693" /><Relationship Type="http://schemas.openxmlformats.org/officeDocument/2006/relationships/notesMaster" Target="/ppt/notesMasters/notesMaster1.xml" Id="Ra12f7c91b9c442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fb0ff9de2427c" /><Relationship Type="http://schemas.openxmlformats.org/officeDocument/2006/relationships/notesMaster" Target="/ppt/notesMasters/notesMaster1.xml" Id="R0b70ad93d6a343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13592953954755" /><Relationship Type="http://schemas.openxmlformats.org/officeDocument/2006/relationships/notesMaster" Target="/ppt/notesMasters/notesMaster1.xml" Id="R7a77f25f12e546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5a20f03b864403" /><Relationship Type="http://schemas.openxmlformats.org/officeDocument/2006/relationships/notesMaster" Target="/ppt/notesMasters/notesMaster1.xml" Id="R6c7a17fc2a4144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2c1536eef0476a" /><Relationship Type="http://schemas.openxmlformats.org/officeDocument/2006/relationships/notesMaster" Target="/ppt/notesMasters/notesMaster1.xml" Id="R6cb820cdda2047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1ba098e85247e6" /><Relationship Type="http://schemas.openxmlformats.org/officeDocument/2006/relationships/notesMaster" Target="/ppt/notesMasters/notesMaster1.xml" Id="Ra1accbad049741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bb3f4e85d417d" /><Relationship Type="http://schemas.openxmlformats.org/officeDocument/2006/relationships/notesMaster" Target="/ppt/notesMasters/notesMaster1.xml" Id="R7ad3cea3a48342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4acd9352e64973" /><Relationship Type="http://schemas.openxmlformats.org/officeDocument/2006/relationships/notesMaster" Target="/ppt/notesMasters/notesMaster1.xml" Id="R10c9f347afae40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17b5f06d0d4272" /><Relationship Type="http://schemas.openxmlformats.org/officeDocument/2006/relationships/notesMaster" Target="/ppt/notesMasters/notesMaster1.xml" Id="R2c990163ab6c47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676f5373ae4906" /><Relationship Type="http://schemas.openxmlformats.org/officeDocument/2006/relationships/notesMaster" Target="/ppt/notesMasters/notesMaster1.xml" Id="R8121ae7ceb2c4f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25da3dcb6846e8" /><Relationship Type="http://schemas.openxmlformats.org/officeDocument/2006/relationships/notesMaster" Target="/ppt/notesMasters/notesMaster1.xml" Id="R10530e40ff70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cited in the supplied pitch deck: Statistics South Africa, Quarterly Labour Force Survey Q2 2026. Graduate unemployment 12.4%; overall unemployment 33.6%. These figures provide context and do not prove a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cited in the supplied pitch deck: Statistics South Africa, Quarterly Labour Force Survey Q2 2026. The founder observation is anecdotal, as stated in the pitch copy. No project validation is reported.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links supplied in pitchdeckV1.md:</a:t>
            </a:r>
          </a:p>
          <a:p xmlns:a="http://schemas.openxmlformats.org/drawingml/2006/main">
            <a:r>
              <a:t>Stats SA QLFS Q2 2026 report: https://www.statssa.gov.za/publications/P0211/P02112ndQuarter2026.pdf</a:t>
            </a:r>
          </a:p>
          <a:p xmlns:a="http://schemas.openxmlformats.org/drawingml/2006/main">
            <a:r>
              <a:t>Stats SA QLFS Q2 2026 presentation: https://www.statssa.gov.za/publications/P0211/Presentation%20QLFS%20Q2%202026.pdf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197d67c7f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dd5cc483a42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f41cdda0c44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a907d875a47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e3b441e174f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f962c7fb842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1715A8-047F-46FD-A805-70C216B67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86E944-6122-458D-AC58-FDF0D1870B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02A75E-8EE6-4E6B-A280-DD0845AE3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9F9D8-0050-4894-A7C6-F5DB7DA13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DA72D3-3C54-4E9D-B190-ECF0821AA5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980D3B-848E-4AB7-B13D-6127057AF7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AA1097-E878-42B4-A03A-6B3CF7143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83CFCB-5234-44BF-B4B2-074101A70B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2E4BB4-DCDF-4EC9-9FCB-2EC4DA28C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C3297F-509B-46E3-9B00-3FAFC3FBE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a3792118914c20" /><Relationship Type="http://schemas.openxmlformats.org/officeDocument/2006/relationships/slideLayout" Target="/ppt/slideLayouts/slideLayout1.xml" Id="R0f69925ade8c412d" /><Relationship Type="http://schemas.openxmlformats.org/officeDocument/2006/relationships/slideLayout" Target="/ppt/slideLayouts/slideLayout2.xml" Id="R2ccba8f0ff2943ec" /><Relationship Type="http://schemas.openxmlformats.org/officeDocument/2006/relationships/slideLayout" Target="/ppt/slideLayouts/slideLayout3.xml" Id="R5278ecf01f2945f3" /><Relationship Type="http://schemas.openxmlformats.org/officeDocument/2006/relationships/slideLayout" Target="/ppt/slideLayouts/slideLayout4.xml" Id="Recbd920791784ec4" /><Relationship Type="http://schemas.openxmlformats.org/officeDocument/2006/relationships/slideLayout" Target="/ppt/slideLayouts/slideLayout5.xml" Id="R6759776b23da4aaf" /><Relationship Type="http://schemas.openxmlformats.org/officeDocument/2006/relationships/slideLayout" Target="/ppt/slideLayouts/slideLayout6.xml" Id="R0d8fe5c842a04d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69925ade8c412d"/>
    <p:sldLayoutId xmlns:r="http://schemas.openxmlformats.org/officeDocument/2006/relationships" id="2147483650" r:id="R2ccba8f0ff2943ec"/>
    <p:sldLayoutId xmlns:r="http://schemas.openxmlformats.org/officeDocument/2006/relationships" id="2147483651" r:id="R5278ecf01f2945f3"/>
    <p:sldLayoutId xmlns:r="http://schemas.openxmlformats.org/officeDocument/2006/relationships" id="2147483652" r:id="Recbd920791784ec4"/>
    <p:sldLayoutId xmlns:r="http://schemas.openxmlformats.org/officeDocument/2006/relationships" id="2147483653" r:id="R6759776b23da4aaf"/>
    <p:sldLayoutId xmlns:r="http://schemas.openxmlformats.org/officeDocument/2006/relationships" id="2147483654" r:id="R0d8fe5c842a04d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309734fc640cf" /><Relationship Type="http://schemas.openxmlformats.org/officeDocument/2006/relationships/notesSlide" Target="/ppt/notesSlides/notesSlide1.xml" Id="Re8643731acc245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bfc8964144542" /><Relationship Type="http://schemas.openxmlformats.org/officeDocument/2006/relationships/notesSlide" Target="/ppt/notesSlides/notesSlide2.xml" Id="Rda8b8c65ac02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c65c450ba419d" /><Relationship Type="http://schemas.openxmlformats.org/officeDocument/2006/relationships/notesSlide" Target="/ppt/notesSlides/notesSlide3.xml" Id="R5d54cc580bc7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3da53dcac4fc1" /><Relationship Type="http://schemas.openxmlformats.org/officeDocument/2006/relationships/notesSlide" Target="/ppt/notesSlides/notesSlide4.xml" Id="R1b977f6051d24c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c576392724423" /><Relationship Type="http://schemas.openxmlformats.org/officeDocument/2006/relationships/notesSlide" Target="/ppt/notesSlides/notesSlide5.xml" Id="R2a3b5e35395c49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c742cd6d34f84" /><Relationship Type="http://schemas.openxmlformats.org/officeDocument/2006/relationships/notesSlide" Target="/ppt/notesSlides/notesSlide6.xml" Id="R466f10d349f941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761268aba4164" /><Relationship Type="http://schemas.openxmlformats.org/officeDocument/2006/relationships/notesSlide" Target="/ppt/notesSlides/notesSlide7.xml" Id="Rabe30411c7704e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8907904a54c9c" /><Relationship Type="http://schemas.openxmlformats.org/officeDocument/2006/relationships/notesSlide" Target="/ppt/notesSlides/notesSlide8.xml" Id="R6b421f3fece141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78c5e654d415d" /><Relationship Type="http://schemas.openxmlformats.org/officeDocument/2006/relationships/notesSlide" Target="/ppt/notesSlides/notesSlide9.xml" Id="Red0cadbeb44c4c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ee88c40b34f75" /><Relationship Type="http://schemas.openxmlformats.org/officeDocument/2006/relationships/notesSlide" Target="/ppt/notesSlides/notesSlide10.xml" Id="R58399fe720bc42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1b17b41ad4174" /><Relationship Type="http://schemas.openxmlformats.org/officeDocument/2006/relationships/notesSlide" Target="/ppt/notesSlides/notesSlide11.xml" Id="R242969f2d8454a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8db3672144e7a" /><Relationship Type="http://schemas.openxmlformats.org/officeDocument/2006/relationships/notesSlide" Target="/ppt/notesSlides/notesSlide12.xml" Id="Racaea2b8d88242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int-edge">
            <a:extLst xmlns:a="http://schemas.openxmlformats.org/drawingml/2006/main">
              <a:ext uri="{FF2B5EF4-FFF2-40B4-BE49-F238E27FC236}">
                <a16:creationId xmlns:a16="http://schemas.microsoft.com/office/drawing/2014/main" id="{2E755897-DF42-4CD4-B68C-22F7CEDF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">
            <a:extLst xmlns:a="http://schemas.openxmlformats.org/drawingml/2006/main">
              <a:ext uri="{FF2B5EF4-FFF2-40B4-BE49-F238E27FC236}">
                <a16:creationId xmlns:a16="http://schemas.microsoft.com/office/drawing/2014/main" id="{5B17D522-A5B3-4634-B2BE-FBFEE9ED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GRADUATE EMPLOYABILITY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FB1BAF-1B9D-4446-AE4F-6CFABAB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57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THINK YOU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6300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CAN BUILD</a:t>
            </a:r>
          </a:p>
        </p:txBody>
      </p:sp>
      <p:sp>
        <p:nvSpPr>
          <p:cNvPr id="4" name="navy-field">
            <a:extLst xmlns:a="http://schemas.openxmlformats.org/drawingml/2006/main">
              <a:ext uri="{FF2B5EF4-FFF2-40B4-BE49-F238E27FC236}">
                <a16:creationId xmlns:a16="http://schemas.microsoft.com/office/drawing/2014/main" id="{0C5B0B87-ED21-4999-8CAE-FCB5AA48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p-accent">
            <a:extLst xmlns:a="http://schemas.openxmlformats.org/drawingml/2006/main">
              <a:ext uri="{FF2B5EF4-FFF2-40B4-BE49-F238E27FC236}">
                <a16:creationId xmlns:a16="http://schemas.microsoft.com/office/drawing/2014/main" id="{1836EC26-EF10-4BAD-8B8C-28DC75B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56B7AE22-6B56-45C5-AA18-4296E76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66825"/>
            <a:ext cx="3333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SHOW HOW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YOU SOLVE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BUSINESS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125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PROBLEMS</a:t>
            </a:r>
          </a:p>
        </p:txBody>
      </p:sp>
      <p:sp>
        <p:nvSpPr>
          <p:cNvPr id="7" name="green-rule">
            <a:extLst xmlns:a="http://schemas.openxmlformats.org/drawingml/2006/main">
              <a:ext uri="{FF2B5EF4-FFF2-40B4-BE49-F238E27FC236}">
                <a16:creationId xmlns:a16="http://schemas.microsoft.com/office/drawing/2014/main" id="{FDD101AF-D779-4019-83FB-8F1E72B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95825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99E67CF1-60A6-4D92-87DE-8DE07A1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875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A live challenge show concept where graduates tackle business problems on camera, helping employers see how they think beyond the CV.</a:t>
            </a:r>
          </a:p>
        </p:txBody>
      </p:sp>
      <p:sp>
        <p:nvSpPr>
          <p:cNvPr id="9" name="tagline">
            <a:extLst xmlns:a="http://schemas.openxmlformats.org/drawingml/2006/main">
              <a:ext uri="{FF2B5EF4-FFF2-40B4-BE49-F238E27FC236}">
                <a16:creationId xmlns:a16="http://schemas.microsoft.com/office/drawing/2014/main" id="{8CC07400-DD34-4C18-A8FE-E7260F1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TURN PROBLEM-SOLVING INTO VISIBLE PROOF</a:t>
            </a:r>
          </a:p>
        </p:txBody>
      </p:sp>
      <p:sp>
        <p:nvSpPr>
          <p:cNvPr id="10" name="footnote">
            <a:extLst xmlns:a="http://schemas.openxmlformats.org/drawingml/2006/main">
              <a:ext uri="{FF2B5EF4-FFF2-40B4-BE49-F238E27FC236}">
                <a16:creationId xmlns:a16="http://schemas.microsoft.com/office/drawing/2014/main" id="{28BBA5C4-82A3-4FE3-94E7-CA2D4FD1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24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CONCEPT · SOUTH AFRICA</a:t>
            </a:r>
          </a:p>
        </p:txBody>
      </p:sp>
    </p:spTree>
    <p:extLst>
      <p:ext uri="{BB962C8B-B14F-4D97-AF65-F5344CB8AC3E}">
        <p14:creationId xmlns:p14="http://schemas.microsoft.com/office/powerpoint/2010/main" val="1890664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780C83-9EF0-48DC-A171-66151F7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052DF4B7-3D35-4339-B175-C6F9B635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2A73A74-0AA2-4FAB-8C8D-C2E1A264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CDECE-92CF-4FCC-9BE1-0720DF1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THE EXPERIENCE GAP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0BFEAB0A-71A1-4663-892B-453013D3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Capable graduates can be hard to assess before their first job.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BD391A-1E67-4AE0-A46B-15FE3FF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524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Employers often have limited evidence of how an early-career candidate reasons, collaborates, and responds to feedback.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D845141-836D-4B24-9252-7BD93FE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UNEMPLOYMENT · Q2 2026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2F90BC-D927-4196-B9F2-421F948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4950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12.4%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21CD74-B623-4EF6-9C2F-454A311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241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GRADUATES</a:t>
            </a:r>
          </a:p>
        </p:txBody>
      </p:sp>
      <p:sp>
        <p:nvSpPr>
          <p:cNvPr id="10" name="graduate-rate-bar">
            <a:extLst xmlns:a="http://schemas.openxmlformats.org/drawingml/2006/main">
              <a:ext uri="{FF2B5EF4-FFF2-40B4-BE49-F238E27FC236}">
                <a16:creationId xmlns:a16="http://schemas.microsoft.com/office/drawing/2014/main" id="{C60CDDC3-C476-408F-918E-E1EE9FD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495E12-D1F3-4F4E-8FA2-429C2553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4950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33.6%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E0ABB1-D869-4F0C-AEA2-5C8EE49C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241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OVERALL</a:t>
            </a:r>
          </a:p>
        </p:txBody>
      </p:sp>
      <p:sp>
        <p:nvSpPr>
          <p:cNvPr id="13" name="overall-rate-bar">
            <a:extLst xmlns:a="http://schemas.openxmlformats.org/drawingml/2006/main">
              <a:ext uri="{FF2B5EF4-FFF2-40B4-BE49-F238E27FC236}">
                <a16:creationId xmlns:a16="http://schemas.microsoft.com/office/drawing/2014/main" id="{9B2635BB-07A6-43DA-A8DA-AB9A65E6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8CDC3A0-3ECF-456A-ADCE-16D258EE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116941F-E1C1-4555-910E-635943DB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This is context for the challenge, not evidence of its cause.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46A125B0-74D6-44C0-9A37-DC57DA99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876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900" b="0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Source: Statistics South Africa, QLFS Q2 2026.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7DC73E8-3F0A-45D9-9023-EAD348D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DB2492A-A40E-4186-ABFD-4B77388B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786213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EDDB7D-683C-4612-9232-6CD91FDA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03DC925B-62B3-4455-9A7D-6ABA24D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3E2F32B-92BD-41E3-B5A9-BA6D0CAE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F9DA6D-8F6B-400D-B32C-D6C8F4A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A CYCLE WITH FEW CHANCES TO PROVE YOURSELF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CFEEC7-3DF8-4066-8145-F2EA78EC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No experience can mean fewer opportunities to gain experience.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9A5971-FAAC-4B20-A82C-457CF1AC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AD6F93-B53E-4709-ACA3-CB79003B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Entry-level roles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753F03-7E22-4F6B-A9BC-9E59AB16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Often ask for experience</a:t>
            </a:r>
          </a:p>
        </p:txBody>
      </p:sp>
      <p:sp>
        <p:nvSpPr>
          <p:cNvPr id="9" name="sequence-link">
            <a:extLst xmlns:a="http://schemas.openxmlformats.org/drawingml/2006/main">
              <a:ext uri="{FF2B5EF4-FFF2-40B4-BE49-F238E27FC236}">
                <a16:creationId xmlns:a16="http://schemas.microsoft.com/office/drawing/2014/main" id="{82152167-1C60-4595-B73F-15B903C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76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E4FAE8-D22D-45A2-B41A-91CD55DA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321C326-0F3D-4153-ACE9-08B1CF3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95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Limited work history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B9C2DB-5CE5-4FE9-8035-E48CA1E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24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Fewer examples to show</a:t>
            </a:r>
          </a:p>
        </p:txBody>
      </p:sp>
      <p:sp>
        <p:nvSpPr>
          <p:cNvPr id="13" name="sequence-link">
            <a:extLst xmlns:a="http://schemas.openxmlformats.org/drawingml/2006/main">
              <a:ext uri="{FF2B5EF4-FFF2-40B4-BE49-F238E27FC236}">
                <a16:creationId xmlns:a16="http://schemas.microsoft.com/office/drawing/2014/main" id="{7BC8255F-A662-4C72-BC71-34E7A8B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76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EAE2FD6-34E3-4358-8611-83F5050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D9F3D5-DEFE-4BAD-BAB6-E46D7A0B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95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Short hiring screens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D53343-2272-4B66-A921-604A60E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Less time to observe practical work</a:t>
            </a:r>
          </a:p>
        </p:txBody>
      </p:sp>
      <p:sp>
        <p:nvSpPr>
          <p:cNvPr id="17" name="sequence-link">
            <a:extLst xmlns:a="http://schemas.openxmlformats.org/drawingml/2006/main">
              <a:ext uri="{FF2B5EF4-FFF2-40B4-BE49-F238E27FC236}">
                <a16:creationId xmlns:a16="http://schemas.microsoft.com/office/drawing/2014/main" id="{AA008157-6992-493F-857C-10AE262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76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D53381-5924-463F-840B-6ACC8D8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1324A9-3D1E-4E4C-A98C-C1AC9FF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95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Fewer first chances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E74BC95-44EF-4A20-917E-1E8F109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Harder to build formal experience</a:t>
            </a:r>
          </a:p>
        </p:txBody>
      </p:sp>
      <p:sp>
        <p:nvSpPr>
          <p:cNvPr id="21" name="context-band">
            <a:extLst xmlns:a="http://schemas.openxmlformats.org/drawingml/2006/main">
              <a:ext uri="{FF2B5EF4-FFF2-40B4-BE49-F238E27FC236}">
                <a16:creationId xmlns:a16="http://schemas.microsoft.com/office/drawing/2014/main" id="{152B024D-D74F-4461-83C6-516E5807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EFBE266-29EE-4F6C-B844-3F74527F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58C98D"/>
                </a:solidFill>
                <a:latin typeface="Roboto"/>
                <a:ea typeface="Roboto"/>
                <a:cs typeface="Roboto"/>
              </a:rPr>
              <a:t>AFFECTED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97837DA-3E2D-43A4-91BB-A0BBAA2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Early-career graduates with limited formal experience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6934A5A-76DF-4EFD-BE5F-3FED1A3B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48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58C98D"/>
                </a:solidFill>
                <a:latin typeface="Roboto"/>
                <a:ea typeface="Roboto"/>
                <a:cs typeface="Roboto"/>
              </a:rPr>
              <a:t>DECISION-MAKERS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F6EA627-5AA5-4FEC-ADF8-86794DB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86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Employers and hiring managers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3CCF232-5D40-42EB-94D6-C211162D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Working model only. Founder framing; no stakeholder interviews yet.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F030F748-CAE5-4E4F-BD06-1C8AD61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CCA6007D-21D1-4883-88F7-324ED46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750221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23D844-B104-4750-A0F8-54024D93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3EC47CD0-96CA-42D1-9D29-7780A60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5146BA1-366A-4FA3-92F0-1A492628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02978B-42AD-4AA9-8B93-8551C44C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THE ROOT IS AN EVIDENCE GAP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7988AC-D1EE-4A88-A761-B34B2B4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400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Hiring teams make decisions with incomplete signals.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9C57262-B07A-4395-92BE-214EAC92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VISIBLE IN A CV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BC4789-084C-426E-B932-5F49AD6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Formal job history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F6D9EFA-E741-4C9A-BE12-7C2F350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HARDER TO SEE</a:t>
            </a:r>
          </a:p>
        </p:txBody>
      </p:sp>
      <p:sp>
        <p:nvSpPr>
          <p:cNvPr id="9" name="harder-to-see">
            <a:extLst xmlns:a="http://schemas.openxmlformats.org/drawingml/2006/main">
              <a:ext uri="{FF2B5EF4-FFF2-40B4-BE49-F238E27FC236}">
                <a16:creationId xmlns:a16="http://schemas.microsoft.com/office/drawing/2014/main" id="{DD256B5C-25EE-4B9E-939B-F53302D0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Practical reasoning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232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Learning and collaboration</a:t>
            </a:r>
          </a:p>
        </p:txBody>
      </p:sp>
      <p:sp>
        <p:nvSpPr>
          <p:cNvPr id="10" name="hypothesis-band">
            <a:extLst xmlns:a="http://schemas.openxmlformats.org/drawingml/2006/main">
              <a:ext uri="{FF2B5EF4-FFF2-40B4-BE49-F238E27FC236}">
                <a16:creationId xmlns:a16="http://schemas.microsoft.com/office/drawing/2014/main" id="{CE807402-89D8-46B4-9E9C-BEAB7C8E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7823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2903DEA4-CCA4-4D80-9968-3446E51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WORKING HYPOTHESES · UNVALIDATED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193DC0-39E9-4A22-8785-9577098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Limited assessment time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1AA239-25CE-41E7-BA8C-E87AF753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14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Reliance on familiar hiring signals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478690A-0F3C-4E8E-B6A9-C08F0415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Uneven access to networks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3B205D-78AE-4FAA-8EB4-5ADC8ECB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The project has not confirmed these causes through graduate or employer research.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4DDC6BD0-7533-4C76-B5B8-BE107FC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2E9B49FD-7577-4F55-B32B-138A36B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366997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2840DE-ED67-428B-AF85-4B87E72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05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5842C734-8605-484C-A731-B3495EAA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F8FE197-3CA7-4A1A-9F6C-3EE15FF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F2B4C2-CD6F-45C1-A365-4F142942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MAKE THE WORK VISIBLE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C002EB-F692-4CDB-9E16-2A7CAEDF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400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Show the process, not just the polished answer.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62B1D1-AC73-4520-8390-35F39D3F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The challenge gives employers a chance to observe how graduates approach a task and make decisions.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EBB14AD-16A2-45C8-BC2E-2C4B86F8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552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8" name="step-marker">
            <a:extLst xmlns:a="http://schemas.openxmlformats.org/drawingml/2006/main">
              <a:ext uri="{FF2B5EF4-FFF2-40B4-BE49-F238E27FC236}">
                <a16:creationId xmlns:a16="http://schemas.microsoft.com/office/drawing/2014/main" id="{D8F4AB69-8F65-490D-850E-86E477B7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9E1D42-1A47-4383-809E-60D84590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CLARIFY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3BEC1C-42A6-4A0B-BFFB-A762AB48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2266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Understand the problem and its constraints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9F9962-67CC-46DE-ADBB-E9E2E832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552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12" name="step-marker">
            <a:extLst xmlns:a="http://schemas.openxmlformats.org/drawingml/2006/main">
              <a:ext uri="{FF2B5EF4-FFF2-40B4-BE49-F238E27FC236}">
                <a16:creationId xmlns:a16="http://schemas.microsoft.com/office/drawing/2014/main" id="{16CDE4EB-7675-48CC-BB5E-292EEA8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D4B991-FB38-447F-BF79-2AEB270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957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TEST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215DF86-F213-4A38-A3EB-D8B8A2D3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2266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Try an approach and examine assumptions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19109C-D95A-4BDC-AC54-29DA1A3E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552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16" name="step-marker">
            <a:extLst xmlns:a="http://schemas.openxmlformats.org/drawingml/2006/main">
              <a:ext uri="{FF2B5EF4-FFF2-40B4-BE49-F238E27FC236}">
                <a16:creationId xmlns:a16="http://schemas.microsoft.com/office/drawing/2014/main" id="{EBEDF247-1766-4CDB-88B9-A357C68D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AC188B3-D50E-477C-8E08-C69AB6DA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957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EXPLAIN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236758-84F7-42BD-9044-806DA84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24400"/>
            <a:ext cx="2266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Make trade-offs and reasoning visible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2C0863-087C-45E6-9E41-163B730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552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0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20" name="step-marker">
            <a:extLst xmlns:a="http://schemas.openxmlformats.org/drawingml/2006/main">
              <a:ext uri="{FF2B5EF4-FFF2-40B4-BE49-F238E27FC236}">
                <a16:creationId xmlns:a16="http://schemas.microsoft.com/office/drawing/2014/main" id="{F2FE2759-800E-44B8-BF4D-E0EBDE3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B12910-C333-44A9-A7EE-D40B8EAE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957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187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ADAPT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00B8F07-B7CB-41D2-A4CB-1D32FB89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24400"/>
            <a:ext cx="2266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Respond to feedback and new information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61F302E-F6B0-42F2-B8C4-CF1DB953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Design hypothesis to test: a structured, role-relevant work sample may reveal evidence a CV or short interview misses.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360918A6-8EA3-43DA-8824-AA11C91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8A3E2E65-3221-4A16-8104-30CA8C7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75985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ACFF7F-E25C-49E6-A1E6-5AEAC956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06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19D9EDD0-F8D4-4EF5-9E4C-CE480B97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D486B93-19E6-4364-B15A-3705C06F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656BDC-6C9F-4233-B71F-08233F4D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ONE CHALLENGE. SEVERAL WAYS TO SHOW CAPABILITY.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B8F185-1CF4-4600-B8A7-9F673E67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09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Graduates solve the same case. Reviewers score the work.</a:t>
            </a:r>
          </a:p>
        </p:txBody>
      </p:sp>
      <p:sp>
        <p:nvSpPr>
          <p:cNvPr id="6" name="session-field">
            <a:extLst xmlns:a="http://schemas.openxmlformats.org/drawingml/2006/main">
              <a:ext uri="{FF2B5EF4-FFF2-40B4-BE49-F238E27FC236}">
                <a16:creationId xmlns:a16="http://schemas.microsoft.com/office/drawing/2014/main" id="{F9A7FDAA-384F-4BCF-902F-17638F2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762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54B0D2C-410D-4E49-8FBA-EF2BFF0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336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8C98D"/>
                </a:solidFill>
                <a:latin typeface="Roboto"/>
                <a:ea typeface="Roboto"/>
                <a:cs typeface="Roboto"/>
              </a:rPr>
              <a:t>FACILITATED SESSION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065C3A-EB26-41C3-9EAA-0370CE1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05150"/>
            <a:ext cx="1714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3–5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1402831-55F8-42D4-AAA2-00529332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42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GRADUATES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AF908A1-576C-41B6-893A-A8BF172C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76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Individual attempts on one shared case, in one facilitated call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4B2896-24E2-4D73-A7EF-8BDC2A3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005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C2D2D4"/>
                </a:solidFill>
                <a:latin typeface="Roboto"/>
                <a:ea typeface="Roboto"/>
                <a:cs typeface="Roboto"/>
              </a:rPr>
              <a:t>Facilitator prompts each graduate; a second reviewer scores the work.</a:t>
            </a:r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1FA0F18-84B5-4042-B7B4-AC12067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SHARED REVIEWER RUBRIC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AE83BA-98A9-44C7-A3B2-640212E7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19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01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D2DBE6-6398-4830-8EBD-07DC8852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194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Problem understanding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B9E5A6-1870-4327-9137-922D2419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D08BA5B-3479-4794-9BFB-41B90815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718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Reasoning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5DEC4E4-9156-4024-9523-1A2D9B2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242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9B16D9-3700-4342-BE29-4735C243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242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Feasibility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51C1D5-5D63-4D97-86F9-1A1ADD31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9999F7-3E5A-4ED1-BD29-3D1FF41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767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Communication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E4D038-D2B7-43F2-AA82-939C9345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17E8B89-FE70-490F-9877-3D34F85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29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Teamwork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89F71B0-217A-4430-A9CC-D8AD2A9A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81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06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678E208-9B3D-4F49-B39E-B638CAA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Learning from feedback</a:t>
            </a:r>
          </a:p>
        </p:txBody>
      </p:sp>
      <p:sp>
        <p:nvSpPr>
          <p:cNvPr id="25" name="benefit-strip">
            <a:extLst xmlns:a="http://schemas.openxmlformats.org/drawingml/2006/main">
              <a:ext uri="{FF2B5EF4-FFF2-40B4-BE49-F238E27FC236}">
                <a16:creationId xmlns:a16="http://schemas.microsoft.com/office/drawing/2014/main" id="{AA62E8D4-391C-4695-B3FE-9BC583D2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782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CB250FA-736F-40F5-BFBC-3A6009E2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PLANNED WINNER SUPPORT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6AA8560-3F19-4FBC-A655-E845E40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705475"/>
            <a:ext cx="752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Interview and presentation grooming · CV review/building session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94144E3-F5BB-47C8-883F-46FCBBF0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245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Delivery capacity still needs confirmation. Viewer comments do not determine the winner.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8130859C-568D-490F-AFEE-9FC44DF0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84E20C5-7429-4495-A642-7F665D96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14575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F9341F-068E-41BF-9887-A94BB804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07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0395C693-B68E-4DA2-84CC-ECF5EAF3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8DE06A5-3D6E-423D-B3A4-A5AE9949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83D2D6-3638-4EF2-97B9-5AB0EA4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PROTOTYPE / PRODUCT DEMONSTRATION</a:t>
            </a:r>
          </a:p>
        </p:txBody>
      </p:sp>
      <p:sp>
        <p:nvSpPr>
          <p:cNvPr id="5" name="not-built-panel">
            <a:extLst xmlns:a="http://schemas.openxmlformats.org/drawingml/2006/main">
              <a:ext uri="{FF2B5EF4-FFF2-40B4-BE49-F238E27FC236}">
                <a16:creationId xmlns:a16="http://schemas.microsoft.com/office/drawing/2014/main" id="{C356D27C-C2C0-4288-BA5E-AEABEDF1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3952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t-built">
            <a:extLst xmlns:a="http://schemas.openxmlformats.org/drawingml/2006/main">
              <a:ext uri="{FF2B5EF4-FFF2-40B4-BE49-F238E27FC236}">
                <a16:creationId xmlns:a16="http://schemas.microsoft.com/office/drawing/2014/main" id="{3F1D42CD-282C-476B-8279-7890946C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955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NOT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BUILT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100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YET</a:t>
            </a:r>
          </a:p>
        </p:txBody>
      </p:sp>
      <p:sp>
        <p:nvSpPr>
          <p:cNvPr id="7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B1801FE8-176A-4EDE-A814-8A505D8C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ED42FD-11FC-4C3B-9D46-3F83440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319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C2D2D4"/>
                </a:solidFill>
                <a:latin typeface="Roboto"/>
                <a:ea typeface="Roboto"/>
                <a:cs typeface="Roboto"/>
              </a:rPr>
              <a:t>No working app, clickable prototype, or live challenge exists today.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55A4B3F1-2702-4636-A753-A4C0226A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47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PROPOSED DEMO FLOW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37F9AD-687C-4624-91F6-6B46D2CD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E3072FD-7370-47B3-858D-B7E0B9F8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5267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Challenge brief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4CE66096-C018-4DF2-B83D-D49BC593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00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ABF4B1-6AE5-463E-B5A0-F7F7D5D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908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47E6C37-8436-4019-B98D-A96C36E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09900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173747"/>
                </a:solidFill>
                <a:latin typeface="Roboto"/>
                <a:ea typeface="Roboto"/>
                <a:cs typeface="Roboto"/>
              </a:rPr>
              <a:t>Graduate registration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FDC2D3C4-0DD7-4786-9870-220833E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575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33FA3C-0F5D-4CCF-B209-579FE0D2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4807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EF8EE4-FCB0-431F-9550-BF4C64C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66712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173747"/>
                </a:solidFill>
                <a:latin typeface="Roboto"/>
                <a:ea typeface="Roboto"/>
                <a:cs typeface="Roboto"/>
              </a:rPr>
              <a:t>Facilitated challenge stream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02DC44E-644E-4E95-ACE3-80A3ECA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14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E14B84-8E2D-4542-A12E-214FFADE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053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E61C8C-0673-4A7B-88A1-15A673FA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24350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173747"/>
                </a:solidFill>
                <a:latin typeface="Roboto"/>
                <a:ea typeface="Roboto"/>
                <a:cs typeface="Roboto"/>
              </a:rPr>
              <a:t>Scored evidence profile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65C12694-3ECE-40F7-A242-053C2DB9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7720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B5E4D19-51F1-4538-88A7-EFF3FAF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625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17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7CD3093-64BB-4501-851F-C1EFDA71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98157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173747"/>
                </a:solidFill>
                <a:latin typeface="Roboto"/>
                <a:ea typeface="Roboto"/>
                <a:cs typeface="Roboto"/>
              </a:rPr>
              <a:t>Replay gallery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C6160AE5-ED36-4173-AFA8-FE49CD6E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E9ED2974-5038-45A7-8E61-336EA1D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1814293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D6B33A-36E0-4177-A211-632AE07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08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567B4E86-2356-4FCE-898E-0B83C61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3926A8D-0DDD-4E8C-A4CD-AFA9974C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87238-943A-4E77-ABD1-02FD734B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EVIDENCE SO FAR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6592C1-2377-4B8B-ABBB-8F575BC4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The need has context. The concept still needs testing.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885113-9085-42AB-BD26-E2E911E1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069DB88-492B-45F9-91F6-4EB1A4F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52AB3FA-23FE-40C7-A030-4505584C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OFFICIAL CONTEXT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1111B8-E2A0-432F-9B11-FCD8E4F0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12.4% graduate unemployment in Q2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A national indicator, not evidence that this concept will change employment.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AF326C-613F-4A84-83AD-E75EB631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E082ED4-3098-41DC-924A-7F3FB94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70A061-89C0-4E57-82E9-C02EB487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337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FOUNDER OBSERVATION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9D4CEE-C082-4879-B103-EF97B08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Peers from the founder’s college cohorts have struggled to work in their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Anecdotal and not representative research.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7CB8D7-79B6-4BC7-A0AB-ADF4AA36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860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32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1A1F7AA-36D1-4920-BBF1-22F9417E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266E66-FB8A-4279-9D42-403D6512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12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NO VALIDATION YET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8FB5DD-AC71-4EC2-A0EA-B86ECDD8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425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No graduate survey, employer interviews, prototype test, pilot, or confirmed company partner.</a:t>
            </a:r>
          </a:p>
        </p:txBody>
      </p:sp>
      <p:sp>
        <p:nvSpPr>
          <p:cNvPr id="18" name="next-evidence">
            <a:extLst xmlns:a="http://schemas.openxmlformats.org/drawingml/2006/main">
              <a:ext uri="{FF2B5EF4-FFF2-40B4-BE49-F238E27FC236}">
                <a16:creationId xmlns:a16="http://schemas.microsoft.com/office/drawing/2014/main" id="{C233E62F-982F-4643-88DA-7B1759C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1078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C986DE-0054-4343-AFB4-02D59B70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NEXT EVIDENCE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AE6DE8C-54EB-4194-A8CB-940E7B5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05475"/>
            <a:ext cx="838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02F3B"/>
                </a:solidFill>
                <a:latin typeface="Roboto"/>
                <a:ea typeface="Roboto"/>
                <a:cs typeface="Roboto"/>
              </a:rPr>
              <a:t>Survey graduates and interview employers before selecting the first field.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9C7DDA6D-7D01-4489-A633-F107E598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876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900" b="0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Stats SA QLFS Q2 2026.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B1733FA8-E6D1-47C2-9AB5-B444E1E7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0404B73B-B75C-45AA-9F82-400F27F3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970584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8BDC49-4B8A-4DC3-9003-4859FFDD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09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AFF9F294-C0F3-4338-B18E-BF634F20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6B18DEB-861B-441A-9177-49BD8ED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DCB927-BC6A-416B-85A9-6D77D3C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START SMALL WITH EXISTING TOOLS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7AC36E-C28A-4318-AFFD-7893C85B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Test the format before building the full platform.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122602A-1C58-48A0-B1AC-A456DAC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PROPOSED STACK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9FA2BE-7F27-4A8E-9C12-D23DB4DC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React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D0079C-3E5D-49F0-B057-8A524B1A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276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Node.js + Express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42F675-8091-4E38-ACAF-3EBFEFF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defRPr>
            </a:pPr>
            <a:r>
              <a:rPr sz="2625" b="0">
                <a:solidFill>
                  <a:srgbClr val="173747"/>
                </a:solidFill>
                <a:latin typeface="Bebas Neue"/>
                <a:ea typeface="Bebas Neue"/>
                <a:cs typeface="Bebas Neue"/>
              </a:rPr>
              <a:t>MongoDB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DC5744C-6EC8-47B7-9028-651D32C1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38425"/>
            <a:ext cx="190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69C1AF17-B036-4DCF-A420-E328192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PROPOSED DELIVERY TOOLS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BD25A70-A2F8-477E-BC4E-819BD4A8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Teams or Meet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C968AE-5D6C-4054-9D67-2E9234A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480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OBS or StreamYard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AEB128-3DB6-4B5D-9553-478D590C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YouTube</a:t>
            </a:r>
          </a:p>
        </p:txBody>
      </p:sp>
      <p:sp>
        <p:nvSpPr>
          <p:cNvPr id="15" name="pilot-panel">
            <a:extLst xmlns:a="http://schemas.openxmlformats.org/drawingml/2006/main">
              <a:ext uri="{FF2B5EF4-FFF2-40B4-BE49-F238E27FC236}">
                <a16:creationId xmlns:a16="http://schemas.microsoft.com/office/drawing/2014/main" id="{AFD9469A-2F04-40C0-BB8C-579784F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43175"/>
            <a:ext cx="32289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459117B-2DC5-4B32-9FFE-BB2111B6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527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8C98D"/>
                </a:solidFill>
                <a:latin typeface="Roboto"/>
                <a:ea typeface="Roboto"/>
                <a:cs typeface="Roboto"/>
              </a:rPr>
              <a:t>FIRST TEST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76CEB93-122F-4D40-B115-C5E21501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623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250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One mock-case pilot, run manually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92839E7-63AB-4930-BBDD-A7168744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52900"/>
            <a:ext cx="2619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C2D2D4"/>
                </a:solidFill>
                <a:latin typeface="Roboto"/>
                <a:ea typeface="Roboto"/>
                <a:cs typeface="Roboto"/>
              </a:rPr>
              <a:t>Facilitator · second reviewer · moderator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0A19F69-89BA-4994-B2A5-3583B143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620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Feasibility is untested. Solo founder today; no app, budget, team, or platform workflow confirmed.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EFB304-C0C9-49F2-A983-CB5230EF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Build the dashboard only after the workflow proves useful.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E5F7F391-3E7C-4FCC-9E27-2B394B37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22F67A22-EB93-409F-9C13-43ACC5C4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1307026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15D40F-92E3-4B61-9C3E-183AE3E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10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AA53FB50-8FE0-41E2-9FFC-B53745EA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EF78773-C326-4021-990E-2914C9C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1396C4-654B-49E5-8E39-E6512367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EXPOSURE NEEDS SAFEGUARDS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F9C418-3C27-43B3-8B45-D71568C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Public visibility can create opportunity and risk.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E37D36-CDAF-47CE-B673-32905429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ACCESS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2DB16B-54A0-42CF-983F-8C33E1B8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Camera, disability, safety, or internet access may affect participation.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F09D073-859C-4654-B843-4BF318E0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04519B-F193-4061-9FE0-F2F547D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BIAS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AB4168-A395-4E1E-ABA4-BA879926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Confidence, airtime, and live conditions can distort perceptions.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DAD7A12-2CD5-46A1-9D24-5A86755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2C7A0D-0FB7-49CD-A243-4FC50BC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PRIVACY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59C222B-BD2B-4E58-89EA-8D09F0F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Recordings can be copied or seen later, even after consent.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DA9F40C-9954-48DC-9460-61D2E22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D941BC-35A7-4732-A5FB-F4E93AE9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CASE &amp; IP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51F812-F7CB-451C-9532-4918CBDF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196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Real business cases can expose confidential information or raise ownership questions.</a:t>
            </a:r>
          </a:p>
        </p:txBody>
      </p:sp>
      <p:sp>
        <p:nvSpPr>
          <p:cNvPr id="17" name="safeguard-field">
            <a:extLst xmlns:a="http://schemas.openxmlformats.org/drawingml/2006/main">
              <a:ext uri="{FF2B5EF4-FFF2-40B4-BE49-F238E27FC236}">
                <a16:creationId xmlns:a16="http://schemas.microsoft.com/office/drawing/2014/main" id="{2390BFB8-B061-40E5-B0C2-13BD7EB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24125"/>
            <a:ext cx="42100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97256E90-FC4F-4F39-85BF-4BC2B2F0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527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8C98D"/>
                </a:solidFill>
                <a:latin typeface="Roboto"/>
                <a:ea typeface="Roboto"/>
                <a:cs typeface="Roboto"/>
              </a:rPr>
              <a:t>PROPOSED SAFEGUARDS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E7663A-7297-4721-859C-AF72E841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527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pPr>
            <a:r>
              <a: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D3B2518-1C57-4FFE-9586-828C6F17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43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Clear consent and reuse terms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0D3C31-3E9D-4D0C-AE6A-D2CD5D27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718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pPr>
            <a:r>
              <a: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752E995-FE6A-4E68-ABD4-F9072635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623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Mock cases first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C43C14A-8250-46B2-9F6B-2990985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909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pPr>
            <a:r>
              <a: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C3B2D44-EF7C-42DA-97B0-DBA7B2E4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814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Moderated comments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B053BF4-2ADB-45B9-9B45-5B5B75C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100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pPr>
            <a:r>
              <a: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C024A07-992A-4E58-8D76-93B3CF65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005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Equal prompts and individual evidence notes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271A6AD-DABB-41F3-9AF4-4A571BA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29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defRPr>
            </a:pPr>
            <a:r>
              <a:rPr sz="1350" b="0">
                <a:solidFill>
                  <a:srgbClr val="58C98D"/>
                </a:solidFill>
                <a:latin typeface="Bebas Neue"/>
                <a:ea typeface="Bebas Neue"/>
                <a:cs typeface="Bebas Neue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D59EE57-CA50-4259-974C-A8A0F8C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196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Independent scoring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98E666B-C7F8-4E7B-A798-7471CAD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149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C2D2D4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C2D2D4"/>
                </a:solidFill>
                <a:latin typeface="Roboto"/>
                <a:ea typeface="Roboto"/>
                <a:cs typeface="Roboto"/>
              </a:rPr>
              <a:t>Private or recorded participation remains an open design decision.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591A4FCE-BA90-4955-939E-99A33DA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CCC5FE8A-4FE3-4071-974D-DDC960DB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1085997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A78FE9-0FCF-4219-AB08-98FB171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11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5FC3477F-11E4-48AE-8C2C-E6E61BE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394836-BEE9-4566-B246-88EE718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EE2798-CE30-424D-9DE0-09934259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MEASURE EVIDENCE AND OPPORTUNITY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1C52B8-27E3-443A-9313-4656B4D1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19"/>
          </a:bodyPr>
          <a:lstStyle xmlns:a="http://schemas.openxmlformats.org/drawingml/2006/main">
            <a:defPPr algn="l"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Success means employers learn something useful and graduates get a fair chance to show it.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44596D18-F44F-4DFE-BEE1-B1BE350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PILOT MEASURES</a:t>
            </a:r>
          </a:p>
        </p:txBody>
      </p:sp>
      <p:sp>
        <p:nvSpPr>
          <p:cNvPr id="7" name="measure-mark">
            <a:extLst xmlns:a="http://schemas.openxmlformats.org/drawingml/2006/main">
              <a:ext uri="{FF2B5EF4-FFF2-40B4-BE49-F238E27FC236}">
                <a16:creationId xmlns:a16="http://schemas.microsoft.com/office/drawing/2014/main" id="{2E4811D0-C01C-47B6-B487-A638EE1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16AA6E-0EDE-4873-B26E-3F50E19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Completion and withdrawal</a:t>
            </a:r>
          </a:p>
        </p:txBody>
      </p:sp>
      <p:sp>
        <p:nvSpPr>
          <p:cNvPr id="9" name="measure-mark">
            <a:extLst xmlns:a="http://schemas.openxmlformats.org/drawingml/2006/main">
              <a:ext uri="{FF2B5EF4-FFF2-40B4-BE49-F238E27FC236}">
                <a16:creationId xmlns:a16="http://schemas.microsoft.com/office/drawing/2014/main" id="{44FEE3C8-FA0D-4679-9361-4133E9EE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5085548-2690-4248-B728-47633FDF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Participant fairness feedback</a:t>
            </a:r>
          </a:p>
        </p:txBody>
      </p:sp>
      <p:sp>
        <p:nvSpPr>
          <p:cNvPr id="11" name="measure-mark">
            <a:extLst xmlns:a="http://schemas.openxmlformats.org/drawingml/2006/main">
              <a:ext uri="{FF2B5EF4-FFF2-40B4-BE49-F238E27FC236}">
                <a16:creationId xmlns:a16="http://schemas.microsoft.com/office/drawing/2014/main" id="{2931D6CC-F312-4775-A2DD-8D875340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B2E21A-C842-49D3-AC0B-D7563A28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Reviewer score agreement</a:t>
            </a:r>
          </a:p>
        </p:txBody>
      </p:sp>
      <p:sp>
        <p:nvSpPr>
          <p:cNvPr id="13" name="measure-mark">
            <a:extLst xmlns:a="http://schemas.openxmlformats.org/drawingml/2006/main">
              <a:ext uri="{FF2B5EF4-FFF2-40B4-BE49-F238E27FC236}">
                <a16:creationId xmlns:a16="http://schemas.microsoft.com/office/drawing/2014/main" id="{9E5410CD-5616-4B08-B237-82BBC61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6495541-710C-4EDA-8732-5B74C405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Employer usefulness</a:t>
            </a:r>
          </a:p>
        </p:txBody>
      </p:sp>
      <p:sp>
        <p:nvSpPr>
          <p:cNvPr id="15" name="measure-mark">
            <a:extLst xmlns:a="http://schemas.openxmlformats.org/drawingml/2006/main">
              <a:ext uri="{FF2B5EF4-FFF2-40B4-BE49-F238E27FC236}">
                <a16:creationId xmlns:a16="http://schemas.microsoft.com/office/drawing/2014/main" id="{A47322EA-F04B-4F78-B20A-61DEE6C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A15548-2E7D-49C9-AC83-A0E1B43A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Follow-up requests</a:t>
            </a:r>
          </a:p>
        </p:txBody>
      </p:sp>
      <p:sp>
        <p:nvSpPr>
          <p:cNvPr id="17" name="measure-mark">
            <a:extLst xmlns:a="http://schemas.openxmlformats.org/drawingml/2006/main">
              <a:ext uri="{FF2B5EF4-FFF2-40B4-BE49-F238E27FC236}">
                <a16:creationId xmlns:a16="http://schemas.microsoft.com/office/drawing/2014/main" id="{4768A6E9-4C2F-4927-ACFB-6B26299B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348F260-2FA2-4B5B-B931-6DE90BEC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339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Confirmed interviews, shadowing, internships, or paid roles</a:t>
            </a:r>
          </a:p>
        </p:txBody>
      </p:sp>
      <p:sp>
        <p:nvSpPr>
          <p:cNvPr id="19" name="outcome-field">
            <a:extLst xmlns:a="http://schemas.openxmlformats.org/drawingml/2006/main">
              <a:ext uri="{FF2B5EF4-FFF2-40B4-BE49-F238E27FC236}">
                <a16:creationId xmlns:a16="http://schemas.microsoft.com/office/drawing/2014/main" id="{026949FA-EEBF-48CB-8C9C-25DBC06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4724400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007FE14-613D-4172-B31C-E652830C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LONGER-TERM OUTCOMES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D3033D-FAC0-4710-8AE5-255AB566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3962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Relevant opportunities received, with participant consent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81ED49-2AE6-4C6A-9E0B-BE7D407C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3962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Employer use of challenge evidence in a documented hiring decision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D72C0B8C-0BF0-4E7A-9A1F-14B0D2F9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7202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785DAC1-E4D9-4BFA-A03F-507FDF9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744C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18744C"/>
                </a:solidFill>
                <a:latin typeface="Roboto"/>
                <a:ea typeface="Roboto"/>
                <a:cs typeface="Roboto"/>
              </a:rPr>
              <a:t>Views and likes measure attention, not hiring impact.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74493E1-1069-4C05-8292-8B95987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93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60767D"/>
                </a:solidFill>
                <a:latin typeface="Roboto"/>
                <a:ea typeface="Roboto"/>
                <a:cs typeface="Roboto"/>
              </a:rPr>
              <a:t>No impact results exist yet.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56B0E6ED-C9FF-4273-A285-7CB9B5E5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2B4F4C3E-7D95-4F39-AC59-4FBF4023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7235845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06EC483-0DF6-4BCA-A92D-DF423FB2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1425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12</a:t>
            </a:r>
          </a:p>
        </p:txBody>
      </p:sp>
      <p:sp>
        <p:nvSpPr>
          <p:cNvPr id="2" name="running-label">
            <a:extLst xmlns:a="http://schemas.openxmlformats.org/drawingml/2006/main">
              <a:ext uri="{FF2B5EF4-FFF2-40B4-BE49-F238E27FC236}">
                <a16:creationId xmlns:a16="http://schemas.microsoft.com/office/drawing/2014/main" id="{62A3FD47-4127-4CEF-A846-3A96D5D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defPPr>
            <a:lvl1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0767D"/>
                </a:solidFill>
                <a:latin typeface="Roboto"/>
                <a:ea typeface="Roboto"/>
                <a:cs typeface="Roboto"/>
              </a:defRPr>
            </a:pPr>
            <a:r>
              <a:rPr sz="975" b="1">
                <a:solidFill>
                  <a:srgbClr val="60767D"/>
                </a:solidFill>
                <a:latin typeface="Roboto"/>
                <a:ea typeface="Roboto"/>
                <a:cs typeface="Roboto"/>
              </a:rPr>
              <a:t>THINK YOU CAN BUILD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BA9086C-7CC4-4AE8-B3E5-51E07EEA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342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631325-5335-44CA-BDB3-23E6E89F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defRPr>
            </a:pPr>
            <a:r>
              <a:rPr sz="3450" b="0">
                <a:solidFill>
                  <a:srgbClr val="102F3B"/>
                </a:solidFill>
                <a:latin typeface="Bebas Neue"/>
                <a:ea typeface="Bebas Neue"/>
                <a:cs typeface="Bebas Neue"/>
              </a:rPr>
              <a:t>PROVE THE FORMAT BEFORE SCALING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B20A34-4BAF-4FD7-93DD-2BD9C579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3747"/>
                </a:solidFill>
                <a:latin typeface="Roboto"/>
                <a:ea typeface="Roboto"/>
                <a:cs typeface="Roboto"/>
              </a:defRPr>
            </a:pPr>
            <a:r>
              <a:rPr sz="2325" b="1">
                <a:solidFill>
                  <a:srgbClr val="173747"/>
                </a:solidFill>
                <a:latin typeface="Roboto"/>
                <a:ea typeface="Roboto"/>
                <a:cs typeface="Roboto"/>
              </a:rPr>
              <a:t>Research, prototype, dry run, pilot.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A00750-D02D-4BC6-8FC4-D96478A9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01</a:t>
            </a:r>
          </a:p>
        </p:txBody>
      </p:sp>
      <p:sp>
        <p:nvSpPr>
          <p:cNvPr id="7" name="step-dot">
            <a:extLst xmlns:a="http://schemas.openxmlformats.org/drawingml/2006/main">
              <a:ext uri="{FF2B5EF4-FFF2-40B4-BE49-F238E27FC236}">
                <a16:creationId xmlns:a16="http://schemas.microsoft.com/office/drawing/2014/main" id="{A86B0840-5FE4-4B91-BA24-28DF023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853FA4-99B5-4F43-86DF-8C790835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574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Survey graduates and interview employers to select a computer-based field.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B5FB2B21-FAD4-41FD-8D7E-5DF904C9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717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5CDD19B-08BE-4FB4-8AB2-DE03110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02</a:t>
            </a:r>
          </a:p>
        </p:txBody>
      </p:sp>
      <p:sp>
        <p:nvSpPr>
          <p:cNvPr id="11" name="step-dot">
            <a:extLst xmlns:a="http://schemas.openxmlformats.org/drawingml/2006/main">
              <a:ext uri="{FF2B5EF4-FFF2-40B4-BE49-F238E27FC236}">
                <a16:creationId xmlns:a16="http://schemas.microsoft.com/office/drawing/2014/main" id="{5EB58867-1DA4-4DC9-95A1-BE91CB6E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7182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674CCE-BC3A-4C94-A888-14C1F1FB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57525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Create one fictional business case, rubric, and facilitator guide.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30F7D95B-1DDE-42AF-910F-0018D9BC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71850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40FE0B4-FFDD-44EC-91C0-0300CFE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03</a:t>
            </a:r>
          </a:p>
        </p:txBody>
      </p:sp>
      <p:sp>
        <p:nvSpPr>
          <p:cNvPr id="15" name="step-dot">
            <a:extLst xmlns:a="http://schemas.openxmlformats.org/drawingml/2006/main">
              <a:ext uri="{FF2B5EF4-FFF2-40B4-BE49-F238E27FC236}">
                <a16:creationId xmlns:a16="http://schemas.microsoft.com/office/drawing/2014/main" id="{A25F2905-BFEE-4EBB-AC8F-DD683BED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669B018-5F5B-43D5-ADE1-0597329B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576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Test timing, access, and scoring with a dry run.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3FF1A6D-EC85-4FB1-AC47-35A3412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CEA900B-83BF-4B21-855B-E25F8BD1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04</a:t>
            </a:r>
          </a:p>
        </p:txBody>
      </p:sp>
      <p:sp>
        <p:nvSpPr>
          <p:cNvPr id="19" name="step-dot">
            <a:extLst xmlns:a="http://schemas.openxmlformats.org/drawingml/2006/main">
              <a:ext uri="{FF2B5EF4-FFF2-40B4-BE49-F238E27FC236}">
                <a16:creationId xmlns:a16="http://schemas.microsoft.com/office/drawing/2014/main" id="{EE176801-A43F-4B60-9A60-0F36AFA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719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9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344E2A-CE50-4C34-8C35-38DAC1B2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57675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Prepare consent, privacy, moderation, and solution-use terms.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4C2AFAC5-8235-4A7A-B5FE-9A82C00F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311ECBA-E82F-44D9-8F79-65B9EAF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defPPr>
            <a:lvl1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1pPr>
            <a:lvl2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2pPr>
            <a:lvl3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3pPr>
            <a:lvl4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4pPr>
            <a:lvl5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5pPr>
            <a:lvl6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6pPr>
            <a:lvl7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7pPr>
            <a:lvl8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8pPr>
            <a:lvl9pPr algn="l"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defRPr>
            </a:pPr>
            <a:r>
              <a:rPr sz="2400" b="0">
                <a:solidFill>
                  <a:srgbClr val="18744C"/>
                </a:solidFill>
                <a:latin typeface="Bebas Neue"/>
                <a:ea typeface="Bebas Neue"/>
                <a:cs typeface="Bebas Neue"/>
              </a:rPr>
              <a:t>05</a:t>
            </a:r>
          </a:p>
        </p:txBody>
      </p:sp>
      <p:sp>
        <p:nvSpPr>
          <p:cNvPr id="23" name="step-dot">
            <a:extLst xmlns:a="http://schemas.openxmlformats.org/drawingml/2006/main">
              <a:ext uri="{FF2B5EF4-FFF2-40B4-BE49-F238E27FC236}">
                <a16:creationId xmlns:a16="http://schemas.microsoft.com/office/drawing/2014/main" id="{2F8E919D-0839-4E23-9EF7-2EF639F3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720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7D0A9B4-A226-4FE7-A7B8-CD40BB73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F3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02F3B"/>
                </a:solidFill>
                <a:latin typeface="Roboto"/>
                <a:ea typeface="Roboto"/>
                <a:cs typeface="Roboto"/>
              </a:rPr>
              <a:t>Run a small pilot and publish what the evidence shows.</a:t>
            </a:r>
          </a:p>
        </p:txBody>
      </p:sp>
      <p:sp>
        <p:nvSpPr>
          <p:cNvPr id="25" name="limits-band">
            <a:extLst xmlns:a="http://schemas.openxmlformats.org/drawingml/2006/main">
              <a:ext uri="{FF2B5EF4-FFF2-40B4-BE49-F238E27FC236}">
                <a16:creationId xmlns:a16="http://schemas.microsoft.com/office/drawing/2014/main" id="{8F5279D2-45AF-4041-907B-E9E408A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782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1AFA488-2903-49B6-AC0C-E58955E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C98D"/>
                </a:solidFill>
                <a:latin typeface="Roboto"/>
                <a:ea typeface="Roboto"/>
                <a:cs typeface="Roboto"/>
              </a:defRPr>
            </a:pPr>
            <a:r>
              <a:rPr sz="1050" b="1">
                <a:solidFill>
                  <a:srgbClr val="58C98D"/>
                </a:solidFill>
                <a:latin typeface="Roboto"/>
                <a:ea typeface="Roboto"/>
                <a:cs typeface="Roboto"/>
              </a:rPr>
              <a:t>LIMITS TODAY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10DAA25-E325-4215-9B99-79639C3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864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No product, research, pilot, partner, bounty, or placement outcome is confirmed.</a:t>
            </a:r>
          </a:p>
        </p:txBody>
      </p:sp>
      <p:sp>
        <p:nvSpPr>
          <p:cNvPr id="28" name="source">
            <a:extLst xmlns:a="http://schemas.openxmlformats.org/drawingml/2006/main">
              <a:ext uri="{FF2B5EF4-FFF2-40B4-BE49-F238E27FC236}">
                <a16:creationId xmlns:a16="http://schemas.microsoft.com/office/drawing/2014/main" id="{0EA1D713-DC37-48B8-8FF0-F3A45994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876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900" b="0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Stats SA QLFS Q2 2026: report and presentation links appear in the supplied pitch deck.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5F594CE4-1940-45A6-9B9A-54316661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912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2050750-B1AC-47A1-ADF0-2C860CE0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defPPr>
            <a:lvl1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1pPr>
            <a:lvl2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2pPr>
            <a:lvl3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3pPr>
            <a:lvl4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4pPr>
            <a:lvl5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5pPr>
            <a:lvl6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6pPr>
            <a:lvl7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7pPr>
            <a:lvl8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8pPr>
            <a:lvl9pPr algn="l"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2868A"/>
                </a:solidFill>
                <a:latin typeface="Roboto"/>
                <a:ea typeface="Roboto"/>
                <a:cs typeface="Roboto"/>
              </a:defRPr>
            </a:pPr>
            <a:r>
              <a:rPr sz="825" b="1">
                <a:solidFill>
                  <a:srgbClr val="72868A"/>
                </a:solidFill>
                <a:latin typeface="Roboto"/>
                <a:ea typeface="Roboto"/>
                <a:cs typeface="Roboto"/>
              </a:rPr>
              <a:t>SHOW HOW YOU SOLVE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271606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2026-10-29T06:34:11.8460000Z</dcterms:created>
  <dcterms:modified xsi:type="dcterms:W3CDTF">2026-10-29T06:34:11.8460000Z</dcterms:modified>
</coreProperties>
</file>